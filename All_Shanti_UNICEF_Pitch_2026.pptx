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4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2926080" cy="2926080"/>
          </a:xfrm>
          <a:prstGeom prst="ellipse">
            <a:avLst/>
          </a:prstGeom>
          <a:solidFill>
            <a:srgbClr val="E86EA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2926080" cy="2926080"/>
          </a:xfrm>
          <a:prstGeom prst="ellipse">
            <a:avLst/>
          </a:prstGeom>
          <a:solidFill>
            <a:srgbClr val="009ED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1051560"/>
            <a:ext cx="1371600" cy="1371600"/>
          </a:xfrm>
          <a:prstGeom prst="ellipse">
            <a:avLst/>
          </a:prstGeom>
          <a:solidFill>
            <a:srgbClr val="E86EA6"/>
          </a:solidFill>
          <a:ln/>
        </p:spPr>
      </p:sp>
      <p:sp>
        <p:nvSpPr>
          <p:cNvPr id="5" name="Text 3"/>
          <p:cNvSpPr/>
          <p:nvPr/>
        </p:nvSpPr>
        <p:spPr>
          <a:xfrm>
            <a:off x="5413248" y="10972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All Shanti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BFDBFE"/>
                </a:solidFill>
              </a:rPr>
              <a:t>Proposta de Investigação Clínica no Contexto de Tratamento de Suporte Contra a Malária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13248" y="4251960"/>
            <a:ext cx="1371600" cy="64008"/>
          </a:xfrm>
          <a:prstGeom prst="rect">
            <a:avLst/>
          </a:prstGeom>
          <a:solidFill>
            <a:srgbClr val="E86EA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43484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DBFE"/>
                </a:solidFill>
              </a:rPr>
              <a:t>Águas de São Silvestre, SA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Apresentação à UNICEF •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6263640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3C5FD"/>
                </a:solidFill>
              </a:rPr>
              <a:t>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A44A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3C5FD"/>
                </a:solidFill>
              </a:rPr>
              <a:t>CONTEXTO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Crise de Malária em África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9EDB"/>
                </a:solidFill>
              </a:rPr>
              <a:t>282M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casos globais em 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5544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6EA6"/>
                </a:solidFill>
              </a:rPr>
              <a:t>610K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537960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mortes registadas em 2024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44A1"/>
                </a:solidFill>
              </a:rPr>
              <a:t>95%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dos casos mundiais ocorrem em África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657600"/>
            <a:ext cx="5577840" cy="201168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8404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6EA6"/>
                </a:solidFill>
              </a:rPr>
              <a:t>75%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37960" y="4846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das vítimas mortais são crianças &lt; 5 anos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 malária é causada por parasitas Plasmodium, transmitidos pela picada de mosquitos Anopheles fêmea. As duas espécies principais são P. falciparum — a mais letal, dominante em África — e P. vivax, a mais comum fora de África subsariana. A distribuição geográfica concentra-se em África (~94% dos casos), seguida do Sudeste Asiático (~2%) e das regiões do Mediterrâneo Oriental e Américas.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6492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</a:rPr>
              <a:t>Fonte: WHO World Malaria Report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25880"/>
          </a:xfrm>
          <a:prstGeom prst="rect">
            <a:avLst/>
          </a:prstGeom>
          <a:solidFill>
            <a:srgbClr val="009ED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BEAFE"/>
                </a:solidFill>
              </a:rPr>
              <a:t>EPIDEMIOLOGIA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Países Mais Afetados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% das mortes na região africana — WHO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02C"/>
                </a:solidFill>
              </a:rPr>
              <a:t>Nigéria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463040"/>
            <a:ext cx="77724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1463040"/>
            <a:ext cx="4929216" cy="384048"/>
          </a:xfrm>
          <a:prstGeom prst="roundRect">
            <a:avLst>
              <a:gd name="adj" fmla="val 19048"/>
            </a:avLst>
          </a:prstGeom>
          <a:solidFill>
            <a:srgbClr val="009EDB"/>
          </a:solidFill>
          <a:ln/>
        </p:spPr>
      </p:sp>
      <p:sp>
        <p:nvSpPr>
          <p:cNvPr id="9" name="Text 7"/>
          <p:cNvSpPr/>
          <p:nvPr/>
        </p:nvSpPr>
        <p:spPr>
          <a:xfrm>
            <a:off x="5980776" y="14813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31.9%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02C"/>
                </a:solidFill>
              </a:rPr>
              <a:t>RDCongo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37360" y="2084832"/>
            <a:ext cx="77724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2084832"/>
            <a:ext cx="1807894" cy="384048"/>
          </a:xfrm>
          <a:prstGeom prst="roundRect">
            <a:avLst>
              <a:gd name="adj" fmla="val 19048"/>
            </a:avLst>
          </a:prstGeom>
          <a:solidFill>
            <a:srgbClr val="E86EA6"/>
          </a:solidFill>
          <a:ln/>
        </p:spPr>
      </p:sp>
      <p:sp>
        <p:nvSpPr>
          <p:cNvPr id="13" name="Text 11"/>
          <p:cNvSpPr/>
          <p:nvPr/>
        </p:nvSpPr>
        <p:spPr>
          <a:xfrm>
            <a:off x="2859454" y="21031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11.7%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7249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02C"/>
                </a:solidFill>
              </a:rPr>
              <a:t>Niger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706624"/>
            <a:ext cx="77724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7360" y="2706624"/>
            <a:ext cx="942577" cy="384048"/>
          </a:xfrm>
          <a:prstGeom prst="roundRect">
            <a:avLst>
              <a:gd name="adj" fmla="val 19048"/>
            </a:avLst>
          </a:prstGeom>
          <a:solidFill>
            <a:srgbClr val="0A44A1"/>
          </a:solidFill>
          <a:ln/>
        </p:spPr>
      </p:sp>
      <p:sp>
        <p:nvSpPr>
          <p:cNvPr id="17" name="Text 15"/>
          <p:cNvSpPr/>
          <p:nvPr/>
        </p:nvSpPr>
        <p:spPr>
          <a:xfrm>
            <a:off x="1994137" y="272491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6.1%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346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02C"/>
                </a:solidFill>
              </a:rPr>
              <a:t>Uganda, Moçambique e outros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7360" y="3328416"/>
            <a:ext cx="77724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1737360" y="3328416"/>
            <a:ext cx="7772400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33467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50.3%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133088"/>
            <a:ext cx="11612880" cy="658368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11247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4A1"/>
                </a:solidFill>
              </a:rPr>
              <a:t>3 países — Nigéria, RDCongo e Niger — representam ~50% de todas as mortes por malária em África.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892040"/>
            <a:ext cx="11612880" cy="960120"/>
          </a:xfrm>
          <a:prstGeom prst="roundRect">
            <a:avLst>
              <a:gd name="adj" fmla="val 9524"/>
            </a:avLst>
          </a:prstGeom>
          <a:solidFill>
            <a:srgbClr val="FDF2F8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56048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EA6"/>
                </a:solidFill>
              </a:rPr>
              <a:t>78% das mortes por malária são crianças com menos de 5 anos — a cada minuto, uma criança morre de malária.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528523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As vacinas RTS,S e R21 estão agora em fase de rollout em mais de 20 países africanos, com resultados significativos na redução da mortalidade grave.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6492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</a:rPr>
              <a:t>Fonte: WHO World Malaria Report 2025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A44A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3C5FD"/>
                </a:solidFill>
              </a:rPr>
              <a:t>IMPACTO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Impacto Económico Devastador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3619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4444"/>
                </a:solidFill>
              </a:rPr>
              <a:t>CUSTO ANUAL DA MALÁRIA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4444"/>
                </a:solidFill>
              </a:rPr>
              <a:t>US$ 12 mil 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4140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em perdas directas por ano em África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• Perdas de produtividade laboral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• Custos de saúde e investimento perdido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3619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</a:rPr>
              <a:t>GAP DE FINANCIAMENTO (2023)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37960" y="175564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</a:rPr>
              <a:t>US$ 4,3 mil 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37960" y="24140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em falta para atingir metas WHO 2030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• Fundos disponíveis: US$ 4 mil M em 2023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• Necessidade estimada: US$ 8,3 mil M/ano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913632"/>
            <a:ext cx="11521440" cy="1417320"/>
          </a:xfrm>
          <a:prstGeom prst="roundRect">
            <a:avLst>
              <a:gd name="adj" fmla="val 6452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050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</a:rPr>
              <a:t>IMPACTO SOCIAL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42245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~608 000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468172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mortes anuais — concentradas em populações com acesso limitado a cuidados de saúde, sobretudo crianças e grávidas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25112" y="42245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17,8M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325112" y="468172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mulheres grávidas assistidas em 2025 através de intervenções de prevenção e tratamento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47304" y="42245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2050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47304" y="468172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meta de erradicação global — requer inovação urgente em redes mosquiteiras de nova geração e novos fármacos face à resistência crescente e ao impacto de conflitos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5486400"/>
            <a:ext cx="11521440" cy="475488"/>
          </a:xfrm>
          <a:prstGeom prst="roundRect">
            <a:avLst>
              <a:gd name="adj" fmla="val 15385"/>
            </a:avLst>
          </a:prstGeom>
          <a:solidFill>
            <a:srgbClr val="0A44A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5532120"/>
            <a:ext cx="11155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Investigação em novas abordagens terapêuticas é URGENTE E SUBFINANCIADA face à resistência crescente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6492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</a:rPr>
              <a:t>Fonte: RBM Partnership to End Malaria; WHO World Malaria Report 2024; The Lancet Commission; Global Fund Results Report 2025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09ED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BEAFE"/>
                </a:solidFill>
              </a:rPr>
              <a:t>PROBLEMA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Custos e Limitações dos Tratamentos Atuais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91440" cy="2240280"/>
          </a:xfrm>
          <a:prstGeom prst="rect">
            <a:avLst/>
          </a:prstGeom>
          <a:solidFill>
            <a:srgbClr val="009ED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</a:rPr>
              <a:t>💊  ARTEMISINA (STANDARD)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</a:rPr>
              <a:t>US$ 1–3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por tratamento completo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91440" cy="2240280"/>
          </a:xfrm>
          <a:prstGeom prst="rect">
            <a:avLst/>
          </a:prstGeom>
          <a:solidFill>
            <a:srgbClr val="0A44A1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</a:rPr>
              <a:t>🧪  ACT COMBINADAS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</a:rPr>
              <a:t>US$ 0,25–1,50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por dose adulto no sector público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91440" cy="2240280"/>
          </a:xfrm>
          <a:prstGeom prst="rect">
            <a:avLst/>
          </a:prstGeom>
          <a:solidFill>
            <a:srgbClr val="E86EA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9319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</a:rPr>
              <a:t>🚫  ACESSO LIMITADO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434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</a:rPr>
              <a:t>43%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94360" y="52578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da pop. subsaariana sem proteção adequada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931920"/>
            <a:ext cx="91440" cy="2240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39319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</a:rPr>
              <a:t>⚠️  RESISTÊNCIA CRESCENTE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37960" y="4434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</a:rPr>
              <a:t>8 países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537960" y="52578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com resistência parcial confirmada ou suspeita em África (WHO 2025)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6492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</a:rPr>
              <a:t>Fonte: WHO Malaria Treatment Guidelines 2025; WHO World Malaria Report 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6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44A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6048" y="777240"/>
            <a:ext cx="2286000" cy="54864"/>
          </a:xfrm>
          <a:prstGeom prst="rect">
            <a:avLst/>
          </a:prstGeom>
          <a:solidFill>
            <a:srgbClr val="BFDBFE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All Shanti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CE7F3"/>
                </a:solidFill>
              </a:rPr>
              <a:t>Uma Candidatura à Investigação Clínica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6517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Suplemento alimentar desenvolvido pela Águas de São Silvestre, SA, com base em evidência histórica da Cinchona calisaya — proposto para investigação clínica formal em parceria internacional.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547872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3C5FD"/>
                </a:solidFill>
              </a:rPr>
              <a:t>BASE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Água Mineral Natural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547872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3C5FD"/>
                </a:solidFill>
              </a:rPr>
              <a:t>ORIGEM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80560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Plantas medicinais naturais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547872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3C5FD"/>
                </a:solidFill>
              </a:rPr>
              <a:t>LOGÍSTICA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0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 cadeia de frio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56048" y="4754880"/>
            <a:ext cx="2286000" cy="54864"/>
          </a:xfrm>
          <a:prstGeom prst="rect">
            <a:avLst/>
          </a:prstGeom>
          <a:solidFill>
            <a:srgbClr val="BFDBFE">
              <a:alpha val="5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E86E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CE7F3"/>
                </a:solidFill>
              </a:rPr>
              <a:t>PRODUTO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Vantagens do All Shanti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703320" cy="2103120"/>
          </a:xfrm>
          <a:prstGeom prst="roundRect">
            <a:avLst>
              <a:gd name="adj" fmla="val 434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16712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Evidência histórica documentada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 Cinchona calisaya tem uso antimalárico documentado desde o século XVII — base para protocolo de investigação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0" y="1417320"/>
            <a:ext cx="3703320" cy="2103120"/>
          </a:xfrm>
          <a:prstGeom prst="roundRect">
            <a:avLst>
              <a:gd name="adj" fmla="val 434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0" y="216712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Formulação singular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60604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Combinação única de ingredientes naturais em água mineral de São Silvestre — a investigar em ensaios controlados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703320" cy="2103120"/>
          </a:xfrm>
          <a:prstGeom prst="roundRect">
            <a:avLst>
              <a:gd name="adj" fmla="val 434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75320" y="216712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Perfil de segurança a determinar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60604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Testes de segurança e tolerância — incluindo populações pediátricas — a realizar no âmbito do programa clínico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685032"/>
            <a:ext cx="3703320" cy="2103120"/>
          </a:xfrm>
          <a:prstGeom prst="roundRect">
            <a:avLst>
              <a:gd name="adj" fmla="val 434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443484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Potencial de escalabilidade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73752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Se validado clinicamente, produção escalável para contexto africano de alta carga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3685032"/>
            <a:ext cx="3703320" cy="2103120"/>
          </a:xfrm>
          <a:prstGeom prst="roundRect">
            <a:avLst>
              <a:gd name="adj" fmla="val 434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🚛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89120" y="443484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Sem cadeia de frio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4873752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Distribuição simplificada — vantagem logística relevante para regiões remotas, sujeita a validação operacional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92440" y="3685032"/>
            <a:ext cx="3703320" cy="2103120"/>
          </a:xfrm>
          <a:prstGeom prst="roundRect">
            <a:avLst>
              <a:gd name="adj" fmla="val 434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75320" y="443484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Revisão bibliográfica em curso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75320" y="4873752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Literatura sobre alcalóides quinínicos como fundamento do protocolo de ensaios fase I/II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25880"/>
          </a:xfrm>
          <a:prstGeom prst="rect">
            <a:avLst/>
          </a:prstGeom>
          <a:solidFill>
            <a:srgbClr val="0A44A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EVIDÊNCIA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Base Científica Publicada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O que a literatura peer-reviewed documenta sobre os ingredientes activos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1521440" cy="1417320"/>
          </a:xfrm>
          <a:prstGeom prst="roundRect">
            <a:avLst>
              <a:gd name="adj" fmla="val 645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27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9EDB"/>
                </a:solidFill>
              </a:rPr>
              <a:t>Cinchona calisaya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6537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EDB"/>
                </a:solidFill>
              </a:rPr>
              <a:t>Evidência Forte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97480" y="150876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Fonte botânica da quinina — até 6,5% de alcalóides totais (Cano et al., Frontiers in Plant Science, 2017)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178308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Quinina: mecanismo de acção contra P. falciparum documentado (inibição da hemozoína)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205740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Quinina na Lista de Medicamentos Essenciais da OMS — 2ª linha para malária grave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233172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Uso antimalárico documentado desde o séc. XVII — revista JRSM (Gachelin et al., 2017)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254203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Lacuna: Sem ensaios modernos do extracto completo (não da quinina isolada)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11521440" cy="1417320"/>
          </a:xfrm>
          <a:prstGeom prst="roundRect">
            <a:avLst>
              <a:gd name="adj" fmla="val 6452"/>
            </a:avLst>
          </a:prstGeom>
          <a:solidFill>
            <a:srgbClr val="FDF2F8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35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6EA6"/>
                </a:solidFill>
              </a:rPr>
              <a:t>Pau d'Arco (Tabebuia)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36499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DF2F8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7413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6EA6"/>
                </a:solidFill>
              </a:rPr>
              <a:t>Evidência Moderada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301752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Lapachol e beta-lapachona: actividade antiplasmodial in vitro documentada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97480" y="329184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Mecanismo: inibição da cadeia respiratória mitocondrial do parasita (análogo ao atovaquone)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97480" y="356616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Andrade-Neto et al., Phytomedicine (2004) — IC50 1,67–9,44 μM vs. P. falciparum resistente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384048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Revisão sistemática: MDPI Molecules (2020) — PMC7571111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405079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Lacuna: Sem ensaios clínicos humanos; selectividade vs. células humanas a confirmar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434840"/>
            <a:ext cx="11521440" cy="960120"/>
          </a:xfrm>
          <a:prstGeom prst="roundRect">
            <a:avLst>
              <a:gd name="adj" fmla="val 952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544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7280"/>
                </a:solidFill>
              </a:rPr>
              <a:t>Lycopodium clavatum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87375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8828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Evidência Limitada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97480" y="452628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Actividade antioxidante e anti-inflamatória documentada em literatura revisada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97480" y="480060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›  Uso tradicional como tónico digestivo e adaptogénico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97480" y="510235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Lacuna: Sem evidência antimalárica publicada — posicionado como ingrediente de suporte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2960" y="649224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</a:rPr>
              <a:t>Fontes: Cano et al. (2017) PMC5360753 · Gachelin et al. (2017) PMC5298425 · Andrade-Neto et al. (2004) PMID14980653 · MDPI Molecules (2020) PMC7571111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A44A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3C5FD"/>
                </a:solidFill>
              </a:rPr>
              <a:t>PARCERIA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Alinhamento com Prioridades UNICEF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1521440" cy="1051560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Proteção infantil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3794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75% das vítimas mortais africanas são crianças &lt; 5 anos (WHO 2025)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0" y="1527048"/>
            <a:ext cx="5532120" cy="804672"/>
          </a:xfrm>
          <a:prstGeom prst="roundRect">
            <a:avLst>
              <a:gd name="adj" fmla="val 1136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581912"/>
            <a:ext cx="5257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44A1"/>
                </a:solidFill>
              </a:rPr>
              <a:t>✓  Perfil de segurança pediátrica a estabelecer — incluso no protocolo fase I/II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624328"/>
            <a:ext cx="11521440" cy="1051560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7340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Redução da mortalidade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0449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Reduzir mortalidade infantil na África Subsaariana — ODS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2734056"/>
            <a:ext cx="5532120" cy="804672"/>
          </a:xfrm>
          <a:prstGeom prst="roundRect">
            <a:avLst>
              <a:gd name="adj" fmla="val 1136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788920"/>
            <a:ext cx="5257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44A1"/>
                </a:solidFill>
              </a:rPr>
              <a:t>✓  Se validado clinicamente: potencial de escala às populações mais afectadas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31336"/>
            <a:ext cx="11521440" cy="1051560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14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9410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Equidade no acesso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251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43% da população sem proteção adequada — foco em comunidades remotas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3941064"/>
            <a:ext cx="5532120" cy="804672"/>
          </a:xfrm>
          <a:prstGeom prst="roundRect">
            <a:avLst>
              <a:gd name="adj" fmla="val 1136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995928"/>
            <a:ext cx="5257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44A1"/>
                </a:solidFill>
              </a:rPr>
              <a:t>✓  Vantagem logística a confirmar: formulação aquosa sem cadeia de frio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5038344"/>
            <a:ext cx="11521440" cy="1051560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221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51480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Resposta à resistência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54589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Resistência à artemisina confirmada em 8 países africanos — necessidade urgente de alternativas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5148072"/>
            <a:ext cx="5532120" cy="804672"/>
          </a:xfrm>
          <a:prstGeom prst="roundRect">
            <a:avLst>
              <a:gd name="adj" fmla="val 1136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5202936"/>
            <a:ext cx="5257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44A1"/>
                </a:solidFill>
              </a:rPr>
              <a:t>✓  Alcalóides quinínicos da Cinchona: mecanismo de acção distinto da artemisina (documentado)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25880"/>
          </a:xfrm>
          <a:prstGeom prst="rect">
            <a:avLst/>
          </a:prstGeom>
          <a:solidFill>
            <a:srgbClr val="009ED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BEAFE"/>
                </a:solidFill>
              </a:rPr>
              <a:t>INVESTIGAÇÃO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Países Piloto para Investigação Clínica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3 países seleccionados por carga de malária, capacidade regulatória e presença UNICEF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91440" cy="1097280"/>
          </a:xfrm>
          <a:prstGeom prst="rect">
            <a:avLst/>
          </a:prstGeom>
          <a:solidFill>
            <a:srgbClr val="009ED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417320"/>
            <a:ext cx="1143000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184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🇳🇬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Nigéria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8745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31.9% das mortes africanas — maior carga global. UNICEF e Gavi activos desde 2024. NAFDAC com track record de aprovação ágil.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91440" cy="1097280"/>
          </a:xfrm>
          <a:prstGeom prst="rect">
            <a:avLst/>
          </a:prstGeom>
          <a:solidFill>
            <a:srgbClr val="E86EA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743200"/>
            <a:ext cx="11430000" cy="1097280"/>
          </a:xfrm>
          <a:prstGeom prst="roundRect">
            <a:avLst>
              <a:gd name="adj" fmla="val 8333"/>
            </a:avLst>
          </a:prstGeom>
          <a:solidFill>
            <a:srgbClr val="FDF2F8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🇺🇬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2834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Uganda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Maior rollout de vacina anti-malária de África (Abr 2025, 19º país). Malaria Consortium + UNICEF activos em 25 distritos. Forte capacidade regulatória.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91440" cy="1097280"/>
          </a:xfrm>
          <a:prstGeom prst="rect">
            <a:avLst/>
          </a:prstGeom>
          <a:solidFill>
            <a:srgbClr val="0A44A1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4069080"/>
            <a:ext cx="1143000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702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🇲🇿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Moçambique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5262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Vacina introduzida em 2024. Sul de África — diversidade geográfica. Plataforma digital upSCALE para suporte a trabalhadores de saúde.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5486400"/>
            <a:ext cx="11521440" cy="566928"/>
          </a:xfrm>
          <a:prstGeom prst="roundRect">
            <a:avLst>
              <a:gd name="adj" fmla="val 1612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559552"/>
            <a:ext cx="11155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02C"/>
                </a:solidFill>
              </a:rPr>
              <a:t>Centros clínicos parceiros em cada país  •  Comités de ética locais e supervisão OMS/UNICEF  •  Plataforma de dados para recolha e análise clínica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25880"/>
          </a:xfrm>
          <a:prstGeom prst="rect">
            <a:avLst/>
          </a:prstGeom>
          <a:solidFill>
            <a:srgbClr val="0A44A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</a:rPr>
              <a:t>CALENDÁRIO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Roadmap de Investigação Clínica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Início: Setembro 2026 → Decisão de escala: 2030 (condicionada a resultados)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" y="1234440"/>
            <a:ext cx="384048" cy="384048"/>
          </a:xfrm>
          <a:prstGeom prst="ellipse">
            <a:avLst/>
          </a:prstGeom>
          <a:solidFill>
            <a:srgbClr val="009ED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27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09EDB"/>
                </a:solidFill>
              </a:rPr>
              <a:t>SET–DEZ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Protocolo &amp; Ética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671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Desenho do protocolo de investigação fase I/II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Submissão a comités de ética (NG, UG, MZ)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0266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Parceria com universidades e centros clínicos locais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78808" y="1417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14216" y="1234440"/>
            <a:ext cx="384048" cy="384048"/>
          </a:xfrm>
          <a:prstGeom prst="ellipse">
            <a:avLst/>
          </a:prstGeom>
          <a:solidFill>
            <a:srgbClr val="E86EA6"/>
          </a:solidFill>
          <a:ln/>
        </p:spPr>
      </p:sp>
      <p:sp>
        <p:nvSpPr>
          <p:cNvPr id="16" name="Text 14"/>
          <p:cNvSpPr/>
          <p:nvPr/>
        </p:nvSpPr>
        <p:spPr>
          <a:xfrm>
            <a:off x="4014216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15968" y="1527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86EA6"/>
                </a:solidFill>
              </a:rPr>
              <a:t>JAN–JUN 2027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15968" y="1801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Ensaio Fase I — Segurança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15968" y="21671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Recrutamento de participantes adultos (coorte inicial)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15968" y="259689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Avaliação de segurança, tolerância e farmacocinética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15968" y="30266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Supervisão independente OMS / IRB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037576" y="1417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72984" y="1234440"/>
            <a:ext cx="384048" cy="384048"/>
          </a:xfrm>
          <a:prstGeom prst="ellipse">
            <a:avLst/>
          </a:prstGeom>
          <a:solidFill>
            <a:srgbClr val="0A44A1"/>
          </a:solidFill>
          <a:ln/>
        </p:spPr>
      </p:sp>
      <p:sp>
        <p:nvSpPr>
          <p:cNvPr id="24" name="Text 22"/>
          <p:cNvSpPr/>
          <p:nvPr/>
        </p:nvSpPr>
        <p:spPr>
          <a:xfrm>
            <a:off x="7872984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74736" y="1527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A44A1"/>
                </a:solidFill>
              </a:rPr>
              <a:t>JUL–DEZ 2027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74736" y="1801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Análise Intermédia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74736" y="21671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Relatório de segurança independente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174736" y="259689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Decisão baseada em dados: avançar, ajustar ou parar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174736" y="30266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Partilha de resultados com UNICEF e parceiros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" y="3520440"/>
            <a:ext cx="384048" cy="384048"/>
          </a:xfrm>
          <a:prstGeom prst="ellipse">
            <a:avLst/>
          </a:prstGeom>
          <a:solidFill>
            <a:srgbClr val="009EDB"/>
          </a:solidFill>
          <a:ln/>
        </p:spPr>
      </p:sp>
      <p:sp>
        <p:nvSpPr>
          <p:cNvPr id="32" name="Text 30"/>
          <p:cNvSpPr/>
          <p:nvPr/>
        </p:nvSpPr>
        <p:spPr>
          <a:xfrm>
            <a:off x="155448" y="3529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813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09EDB"/>
                </a:solidFill>
              </a:rPr>
              <a:t>2028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087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Ensaio Fase II — Eficácia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4531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Se fase I aprovada: ensaio de eficácia controlado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88289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Expansão a populações vulneráveis (sujeito a dados de segurança)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53126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Primeira publicação peer-review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78808" y="3703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14216" y="3520440"/>
            <a:ext cx="384048" cy="384048"/>
          </a:xfrm>
          <a:prstGeom prst="ellipse">
            <a:avLst/>
          </a:prstGeom>
          <a:solidFill>
            <a:srgbClr val="E86EA6"/>
          </a:solidFill>
          <a:ln/>
        </p:spPr>
      </p:sp>
      <p:sp>
        <p:nvSpPr>
          <p:cNvPr id="40" name="Text 38"/>
          <p:cNvSpPr/>
          <p:nvPr/>
        </p:nvSpPr>
        <p:spPr>
          <a:xfrm>
            <a:off x="4014216" y="3529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15968" y="3813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86EA6"/>
                </a:solidFill>
              </a:rPr>
              <a:t>2029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15968" y="4087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Avaliação Regulatória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15968" y="44531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Submissão a SRA (EMA/FDA) ou equivalente regional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315968" y="488289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Processo WHO Prequalification (se resultados positivos)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315968" y="53126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Publicações científicas adicionais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37576" y="3703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72984" y="3520440"/>
            <a:ext cx="384048" cy="384048"/>
          </a:xfrm>
          <a:prstGeom prst="ellipse">
            <a:avLst/>
          </a:prstGeom>
          <a:solidFill>
            <a:srgbClr val="0A44A1"/>
          </a:solidFill>
          <a:ln/>
        </p:spPr>
      </p:sp>
      <p:sp>
        <p:nvSpPr>
          <p:cNvPr id="48" name="Text 46"/>
          <p:cNvSpPr/>
          <p:nvPr/>
        </p:nvSpPr>
        <p:spPr>
          <a:xfrm>
            <a:off x="7872984" y="3529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74736" y="38130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A44A1"/>
                </a:solidFill>
              </a:rPr>
              <a:t>2030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174736" y="4087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Decisão de Escala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174736" y="44531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Avaliação de viabilidade para procurement UNICEF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174736" y="488289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Plano de acesso a países de alta carga (condicionado a aprovação)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174736" y="531266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›  Relatório ODS e impacto documentado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E86E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CE7F3"/>
                </a:solidFill>
              </a:rPr>
              <a:t>RESULTADOS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Marcos Científicos e Regulatórios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9EDB"/>
                </a:solidFill>
              </a:rPr>
              <a:t>Fase 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Dados de segurança e tolerância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2027 — adultos, coorte inicial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FDF2F8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6459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6EA6"/>
                </a:solidFill>
              </a:rPr>
              <a:t>Fase II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89120" y="26517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Dados de eficácia controlada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2028 — sujeito a fase I aprovada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6459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44A1"/>
                </a:solidFill>
              </a:rPr>
              <a:t>Reg.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66760" y="26517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Avaliação regulatória WHO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2029–2030 — se resultados positivos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11521440" cy="2212848"/>
          </a:xfrm>
          <a:prstGeom prst="roundRect">
            <a:avLst>
              <a:gd name="adj" fmla="val 413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4164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</a:rPr>
              <a:t>FASES DE INVESTIGAÇÃO — DECISÕES CONDICIONADAS A DADOS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5500116"/>
            <a:ext cx="2606040" cy="59436"/>
          </a:xfrm>
          <a:prstGeom prst="roundRect">
            <a:avLst>
              <a:gd name="adj" fmla="val 61538"/>
            </a:avLst>
          </a:prstGeom>
          <a:solidFill>
            <a:srgbClr val="0A44A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623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2026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55848" y="5321808"/>
            <a:ext cx="2606040" cy="237744"/>
          </a:xfrm>
          <a:prstGeom prst="roundRect">
            <a:avLst>
              <a:gd name="adj" fmla="val 15385"/>
            </a:avLst>
          </a:prstGeom>
          <a:solidFill>
            <a:srgbClr val="0A44A1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5623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2027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08776" y="4965192"/>
            <a:ext cx="2606040" cy="594360"/>
          </a:xfrm>
          <a:prstGeom prst="roundRect">
            <a:avLst>
              <a:gd name="adj" fmla="val 6154"/>
            </a:avLst>
          </a:prstGeom>
          <a:solidFill>
            <a:srgbClr val="E86EA6"/>
          </a:solidFill>
          <a:ln/>
        </p:spPr>
      </p:sp>
      <p:sp>
        <p:nvSpPr>
          <p:cNvPr id="24" name="Text 22"/>
          <p:cNvSpPr/>
          <p:nvPr/>
        </p:nvSpPr>
        <p:spPr>
          <a:xfrm>
            <a:off x="6208776" y="5623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2028–29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61704" y="4370832"/>
            <a:ext cx="2606040" cy="1188720"/>
          </a:xfrm>
          <a:prstGeom prst="roundRect">
            <a:avLst>
              <a:gd name="adj" fmla="val 3077"/>
            </a:avLst>
          </a:prstGeom>
          <a:solidFill>
            <a:srgbClr val="009EDB"/>
          </a:solidFill>
          <a:ln/>
        </p:spPr>
      </p:sp>
      <p:sp>
        <p:nvSpPr>
          <p:cNvPr id="26" name="Text 24"/>
          <p:cNvSpPr/>
          <p:nvPr/>
        </p:nvSpPr>
        <p:spPr>
          <a:xfrm>
            <a:off x="9061704" y="5623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2030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9E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44A1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BFDBFE"/>
                </a:solidFill>
              </a:rPr>
              <a:t>PROPOSTA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All Shanti  +  UNICEF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57276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BEAFE"/>
                </a:solidFill>
              </a:rPr>
              <a:t>Uma parceria de investigação para determinar o potencial clínico do All Shanti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41848" y="2103120"/>
            <a:ext cx="914400" cy="54864"/>
          </a:xfrm>
          <a:prstGeom prst="rect">
            <a:avLst/>
          </a:prstGeom>
          <a:solidFill>
            <a:srgbClr val="E86EA6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286000"/>
            <a:ext cx="566928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68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4140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Co-investigação clínica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Protocolo conjunto fase I/II com supervisão UNICEF/OMS — rigor científico e independência garantidos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566928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468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40880" y="24140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Co-financiamento de ensaios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2743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Acesso a fundos de investigação (Gavi, GFATM, PMI) para conduzir os ensaios clínicos necessários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566928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83133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Recolha e análise de dados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Sistemas UNICEF de monitorização para recolha robusta de dados clínicos em contexto africano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66928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8862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383133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Credibilidade regulatória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4160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</a:rPr>
              <a:t>O envolvimento UNICEF reforça a credibilidade junto de SRAs e acelera o processo WHO Prequalification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Objectivo: Determinar, com rigor científico, o potencial do All Shanti como ferramenta antimalárica — e, se validado, levá-lo a quem mais precisa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A44A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3C5FD"/>
                </a:solidFill>
              </a:rPr>
              <a:t>ACÇÃO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43891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Próximos Passos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27048"/>
            <a:ext cx="640080" cy="640080"/>
          </a:xfrm>
          <a:prstGeom prst="ellipse">
            <a:avLst/>
          </a:prstGeom>
          <a:solidFill>
            <a:srgbClr val="009E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53619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43000" y="1417320"/>
            <a:ext cx="10698480" cy="987552"/>
          </a:xfrm>
          <a:prstGeom prst="roundRect">
            <a:avLst>
              <a:gd name="adj" fmla="val 925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4904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Reunião técnica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81965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Apresentação da revisão bibliográfica e plano de investigação clínica ao departamento de saúde da UNICEF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235440" y="1655064"/>
            <a:ext cx="2423160" cy="329184"/>
          </a:xfrm>
          <a:prstGeom prst="roundRect">
            <a:avLst>
              <a:gd name="adj" fmla="val 27778"/>
            </a:avLst>
          </a:prstGeom>
          <a:solidFill>
            <a:srgbClr val="009EDB"/>
          </a:solidFill>
          <a:ln/>
        </p:spPr>
      </p:sp>
      <p:sp>
        <p:nvSpPr>
          <p:cNvPr id="11" name="Text 9"/>
          <p:cNvSpPr/>
          <p:nvPr/>
        </p:nvSpPr>
        <p:spPr>
          <a:xfrm>
            <a:off x="9235440" y="1664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Abril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734056"/>
            <a:ext cx="640080" cy="640080"/>
          </a:xfrm>
          <a:prstGeom prst="ellipse">
            <a:avLst/>
          </a:prstGeom>
          <a:solidFill>
            <a:srgbClr val="E86EA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74320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2624328"/>
            <a:ext cx="10698480" cy="987552"/>
          </a:xfrm>
          <a:prstGeom prst="roundRect">
            <a:avLst>
              <a:gd name="adj" fmla="val 925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6974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Avaliação de parceria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02666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Avaliação formal do potencial de parceria UNICEF–All Shanti e definição de termos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35440" y="2862072"/>
            <a:ext cx="2423160" cy="329184"/>
          </a:xfrm>
          <a:prstGeom prst="roundRect">
            <a:avLst>
              <a:gd name="adj" fmla="val 27778"/>
            </a:avLst>
          </a:prstGeom>
          <a:solidFill>
            <a:srgbClr val="E86EA6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8712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Maio 2026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640080" cy="640080"/>
          </a:xfrm>
          <a:prstGeom prst="ellipse">
            <a:avLst/>
          </a:prstGeom>
          <a:solidFill>
            <a:srgbClr val="0A44A1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95020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43000" y="3831336"/>
            <a:ext cx="10698480" cy="987552"/>
          </a:xfrm>
          <a:prstGeom prst="roundRect">
            <a:avLst>
              <a:gd name="adj" fmla="val 925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9044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Países piloto prioritários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23367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Definição final dos 3 países piloto e início das diligências regulatórias locais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35440" y="4069080"/>
            <a:ext cx="2423160" cy="329184"/>
          </a:xfrm>
          <a:prstGeom prst="roundRect">
            <a:avLst>
              <a:gd name="adj" fmla="val 27778"/>
            </a:avLst>
          </a:prstGeom>
          <a:solidFill>
            <a:srgbClr val="0A44A1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40782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Jun–Jul 2026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5148072"/>
            <a:ext cx="640080" cy="640080"/>
          </a:xfrm>
          <a:prstGeom prst="ellipse">
            <a:avLst/>
          </a:prstGeom>
          <a:solidFill>
            <a:srgbClr val="009EDB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515721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43000" y="5038344"/>
            <a:ext cx="10698480" cy="987552"/>
          </a:xfrm>
          <a:prstGeom prst="roundRect">
            <a:avLst>
              <a:gd name="adj" fmla="val 925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51114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MOU &amp; Financiamento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54406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Assinatura de Memorando de Entendimento e identificação de fontes de financiamento (Gavi, GFATM)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235440" y="5276088"/>
            <a:ext cx="2423160" cy="329184"/>
          </a:xfrm>
          <a:prstGeom prst="roundRect">
            <a:avLst>
              <a:gd name="adj" fmla="val 27778"/>
            </a:avLst>
          </a:prstGeom>
          <a:solidFill>
            <a:srgbClr val="009EDB"/>
          </a:solidFill>
          <a:ln/>
        </p:spPr>
      </p:sp>
      <p:sp>
        <p:nvSpPr>
          <p:cNvPr id="32" name="Text 30"/>
          <p:cNvSpPr/>
          <p:nvPr/>
        </p:nvSpPr>
        <p:spPr>
          <a:xfrm>
            <a:off x="9235440" y="52852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Ago–Set 2026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44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731520"/>
            <a:ext cx="3200400" cy="3200400"/>
          </a:xfrm>
          <a:prstGeom prst="ellipse">
            <a:avLst/>
          </a:prstGeom>
          <a:solidFill>
            <a:srgbClr val="E86E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3840480"/>
            <a:ext cx="2286000" cy="2286000"/>
          </a:xfrm>
          <a:prstGeom prst="ellipse">
            <a:avLst/>
          </a:prstGeom>
          <a:solidFill>
            <a:srgbClr val="009ED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594360"/>
            <a:ext cx="1371600" cy="1371600"/>
          </a:xfrm>
          <a:prstGeom prst="ellipse">
            <a:avLst/>
          </a:prstGeom>
          <a:solidFill>
            <a:srgbClr val="E86EA6"/>
          </a:solidFill>
          <a:ln/>
        </p:spPr>
      </p:sp>
      <p:sp>
        <p:nvSpPr>
          <p:cNvPr id="5" name="Text 3"/>
          <p:cNvSpPr/>
          <p:nvPr/>
        </p:nvSpPr>
        <p:spPr>
          <a:xfrm>
            <a:off x="5413248" y="658368"/>
            <a:ext cx="13716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Obrigado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332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All Shanti — Em investigação para combater a malária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Águas de São Silvestre, SA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13248" y="4160520"/>
            <a:ext cx="1371600" cy="54864"/>
          </a:xfrm>
          <a:prstGeom prst="rect">
            <a:avLst/>
          </a:prstGeom>
          <a:solidFill>
            <a:srgbClr val="E86E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7083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Águas de São Silvestre, SA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Pernes, Santarém — Portugal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603504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3C5FD"/>
                </a:solidFill>
              </a:rPr>
              <a:t>APRESENTAÇÃO CONFIDENCIAL — UNICEF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2026-04-07T15:11:09Z</dcterms:created>
  <dcterms:modified xsi:type="dcterms:W3CDTF">2026-04-07T15:11:09Z</dcterms:modified>
</cp:coreProperties>
</file>